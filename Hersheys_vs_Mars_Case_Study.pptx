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Hershey's ($B)</c:v>
                </c:pt>
              </c:strCache>
            </c:strRef>
          </c:tx>
          <c:spPr>
            <a:solidFill>
              <a:srgbClr val="5B2C06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900">
                    <a:solidFill>
                      <a:srgbClr val="5B2C06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7.99</c:v>
                </c:pt>
                <c:pt idx="1">
                  <c:v>8.15</c:v>
                </c:pt>
                <c:pt idx="2">
                  <c:v>8.97</c:v>
                </c:pt>
                <c:pt idx="3">
                  <c:v>10.42</c:v>
                </c:pt>
                <c:pt idx="4">
                  <c:v>11.16</c:v>
                </c:pt>
                <c:pt idx="5">
                  <c:v>10.4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Mars ($B)</c:v>
                </c:pt>
              </c:strCache>
            </c:strRef>
          </c:tx>
          <c:spPr>
            <a:solidFill>
              <a:srgbClr val="C8102E"/>
            </a:solidFill>
          </c:spPr>
          <c:dLbls>
            <c:numFmt formatCode="0.0" sourceLinked="0"/>
            <c:txPr>
              <a:bodyPr/>
              <a:lstStyle/>
              <a:p>
                <a:pPr>
                  <a:defRPr sz="900">
                    <a:solidFill>
                      <a:srgbClr val="C8102E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40.0</c:v>
                </c:pt>
                <c:pt idx="1">
                  <c:v>42.0</c:v>
                </c:pt>
                <c:pt idx="2">
                  <c:v>45.0</c:v>
                </c:pt>
                <c:pt idx="3">
                  <c:v>47.0</c:v>
                </c:pt>
                <c:pt idx="4">
                  <c:v>49.0</c:v>
                </c:pt>
                <c:pt idx="5">
                  <c:v>50.0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Hershey's</c:v>
                </c:pt>
              </c:strCache>
            </c:strRef>
          </c:tx>
          <c:spPr>
            <a:solidFill>
              <a:srgbClr val="5B2C06"/>
            </a:solidFill>
          </c:spPr>
          <c:dLbls>
            <c:txPr>
              <a:bodyPr/>
              <a:lstStyle/>
              <a:p>
                <a:pPr>
                  <a:defRPr sz="10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IP Protection</c:v>
                </c:pt>
                <c:pt idx="1">
                  <c:v>Regulatory
Compliance</c:v>
                </c:pt>
                <c:pt idx="2">
                  <c:v>Litigation
Risk (lower=better)</c:v>
                </c:pt>
                <c:pt idx="3">
                  <c:v>Trade Secret
Protection</c:v>
                </c:pt>
                <c:pt idx="4">
                  <c:v>Global Legal
Coverage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8</c:v>
                </c:pt>
                <c:pt idx="2">
                  <c:v>6</c:v>
                </c:pt>
                <c:pt idx="3">
                  <c:v>7</c:v>
                </c:pt>
                <c:pt idx="4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Mars</c:v>
                </c:pt>
              </c:strCache>
            </c:strRef>
          </c:tx>
          <c:spPr>
            <a:solidFill>
              <a:srgbClr val="C8102E"/>
            </a:solidFill>
          </c:spPr>
          <c:dLbls>
            <c:txPr>
              <a:bodyPr/>
              <a:lstStyle/>
              <a:p>
                <a:pPr>
                  <a:defRPr sz="10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IP Protection</c:v>
                </c:pt>
                <c:pt idx="1">
                  <c:v>Regulatory
Compliance</c:v>
                </c:pt>
                <c:pt idx="2">
                  <c:v>Litigation
Risk (lower=better)</c:v>
                </c:pt>
                <c:pt idx="3">
                  <c:v>Trade Secret
Protection</c:v>
                </c:pt>
                <c:pt idx="4">
                  <c:v>Global Legal
Coverage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</c:v>
                </c:pt>
                <c:pt idx="1">
                  <c:v>9</c:v>
                </c:pt>
                <c:pt idx="2">
                  <c:v>5</c:v>
                </c:pt>
                <c:pt idx="3">
                  <c:v>9</c:v>
                </c:pt>
                <c:pt idx="4">
                  <c:v>9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Hershey's</c:v>
                </c:pt>
              </c:strCache>
            </c:strRef>
          </c:tx>
          <c:spPr>
            <a:solidFill>
              <a:srgbClr val="5B2C06"/>
            </a:solidFill>
          </c:spPr>
          <c:dLbls>
            <c:txPr>
              <a:bodyPr/>
              <a:lstStyle/>
              <a:p>
                <a:pPr>
                  <a:defRPr sz="9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R&amp;D Spend
($M/yr)</c:v>
                </c:pt>
                <c:pt idx="1">
                  <c:v>Factories
Worldwide</c:v>
                </c:pt>
                <c:pt idx="2">
                  <c:v>Countries
w/ Operations</c:v>
                </c:pt>
                <c:pt idx="3">
                  <c:v>New Products
(Annual)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15</c:v>
                </c:pt>
                <c:pt idx="2">
                  <c:v>5</c:v>
                </c:pt>
                <c:pt idx="3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Mars</c:v>
                </c:pt>
              </c:strCache>
            </c:strRef>
          </c:tx>
          <c:spPr>
            <a:solidFill>
              <a:srgbClr val="C8102E"/>
            </a:solidFill>
          </c:spPr>
          <c:dLbls>
            <c:txPr>
              <a:bodyPr/>
              <a:lstStyle/>
              <a:p>
                <a:pPr>
                  <a:defRPr sz="9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R&amp;D Spend
($M/yr)</c:v>
                </c:pt>
                <c:pt idx="1">
                  <c:v>Factories
Worldwide</c:v>
                </c:pt>
                <c:pt idx="2">
                  <c:v>Countries
w/ Operations</c:v>
                </c:pt>
                <c:pt idx="3">
                  <c:v>New Products
(Annual)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800</c:v>
                </c:pt>
                <c:pt idx="1">
                  <c:v>130</c:v>
                </c:pt>
                <c:pt idx="2">
                  <c:v>80</c:v>
                </c:pt>
                <c:pt idx="3">
                  <c:v>100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Hershey Net Margin %</c:v>
                </c:pt>
              </c:strCache>
            </c:strRef>
          </c:tx>
          <c:spPr>
            <a:ln w="38100">
              <a:solidFill>
                <a:srgbClr val="5B2C06"/>
              </a:solidFill>
            </a:ln>
          </c:spPr>
          <c:dLbls>
            <c:numFmt formatCode="0.0&quot;%&quot;" sourceLinked="0"/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15.2</c:v>
                </c:pt>
                <c:pt idx="1">
                  <c:v>16.1</c:v>
                </c:pt>
                <c:pt idx="2">
                  <c:v>16.8</c:v>
                </c:pt>
                <c:pt idx="3">
                  <c:v>18.1</c:v>
                </c:pt>
                <c:pt idx="4">
                  <c:v>17.3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Mars Net Margin % (est.)</c:v>
                </c:pt>
              </c:strCache>
            </c:strRef>
          </c:tx>
          <c:spPr>
            <a:ln w="38100">
              <a:solidFill>
                <a:srgbClr val="C8102E"/>
              </a:solidFill>
            </a:ln>
          </c:spPr>
          <c:dLbls>
            <c:numFmt formatCode="0.0&quot;%&quot;" sourceLinked="0"/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10.5</c:v>
                </c:pt>
                <c:pt idx="1">
                  <c:v>11.0</c:v>
                </c:pt>
                <c:pt idx="2">
                  <c:v>11.5</c:v>
                </c:pt>
                <c:pt idx="3">
                  <c:v>12.0</c:v>
                </c:pt>
                <c:pt idx="4">
                  <c:v>12.0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Hershey's</c:v>
                </c:pt>
              </c:strCache>
            </c:strRef>
          </c:tx>
          <c:spPr>
            <a:solidFill>
              <a:srgbClr val="5B2C06"/>
            </a:solidFill>
          </c:spPr>
          <c:dLbls>
            <c:txPr>
              <a:bodyPr/>
              <a:lstStyle/>
              <a:p>
                <a:pPr>
                  <a:defRPr sz="10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Community
Investment ($M)</c:v>
                </c:pt>
                <c:pt idx="1">
                  <c:v>Responsible
Sourcing %</c:v>
                </c:pt>
                <c:pt idx="2">
                  <c:v>DEI Board
Diversity %</c:v>
                </c:pt>
                <c:pt idx="3">
                  <c:v>Employee
Satisfaction /5</c:v>
                </c:pt>
                <c:pt idx="4">
                  <c:v>CSR Programs
Count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75</c:v>
                </c:pt>
                <c:pt idx="2">
                  <c:v>50</c:v>
                </c:pt>
                <c:pt idx="3">
                  <c:v>4.0</c:v>
                </c:pt>
                <c:pt idx="4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Mars</c:v>
                </c:pt>
              </c:strCache>
            </c:strRef>
          </c:tx>
          <c:spPr>
            <a:solidFill>
              <a:srgbClr val="C8102E"/>
            </a:solidFill>
          </c:spPr>
          <c:dLbls>
            <c:txPr>
              <a:bodyPr/>
              <a:lstStyle/>
              <a:p>
                <a:pPr>
                  <a:defRPr sz="10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Community
Investment ($M)</c:v>
                </c:pt>
                <c:pt idx="1">
                  <c:v>Responsible
Sourcing %</c:v>
                </c:pt>
                <c:pt idx="2">
                  <c:v>DEI Board
Diversity %</c:v>
                </c:pt>
                <c:pt idx="3">
                  <c:v>Employee
Satisfaction /5</c:v>
                </c:pt>
                <c:pt idx="4">
                  <c:v>CSR Programs
Count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400</c:v>
                </c:pt>
                <c:pt idx="1">
                  <c:v>70</c:v>
                </c:pt>
                <c:pt idx="2">
                  <c:v>45</c:v>
                </c:pt>
                <c:pt idx="3">
                  <c:v>4.1</c:v>
                </c:pt>
                <c:pt idx="4">
                  <c:v>30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Hershey's</c:v>
                </c:pt>
              </c:strCache>
            </c:strRef>
          </c:tx>
          <c:spPr>
            <a:solidFill>
              <a:srgbClr val="5B2C06"/>
            </a:solidFill>
          </c:spPr>
          <c:dLbls>
            <c:txPr>
              <a:bodyPr/>
              <a:lstStyle/>
              <a:p>
                <a:pPr>
                  <a:defRPr sz="9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GHG Reduction
% Achieved</c:v>
                </c:pt>
                <c:pt idx="1">
                  <c:v>Renewable
Energy %</c:v>
                </c:pt>
                <c:pt idx="2">
                  <c:v>Sustainable
Packaging %</c:v>
                </c:pt>
                <c:pt idx="3">
                  <c:v>Zero Waste
Sites</c:v>
                </c:pt>
                <c:pt idx="4">
                  <c:v>Water Reduction
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50</c:v>
                </c:pt>
                <c:pt idx="2">
                  <c:v>60</c:v>
                </c:pt>
                <c:pt idx="3">
                  <c:v>7</c:v>
                </c:pt>
                <c:pt idx="4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Mars</c:v>
                </c:pt>
              </c:strCache>
            </c:strRef>
          </c:tx>
          <c:spPr>
            <a:solidFill>
              <a:srgbClr val="C8102E"/>
            </a:solidFill>
          </c:spPr>
          <c:dLbls>
            <c:txPr>
              <a:bodyPr/>
              <a:lstStyle/>
              <a:p>
                <a:pPr>
                  <a:defRPr sz="9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GHG Reduction
% Achieved</c:v>
                </c:pt>
                <c:pt idx="1">
                  <c:v>Renewable
Energy %</c:v>
                </c:pt>
                <c:pt idx="2">
                  <c:v>Sustainable
Packaging %</c:v>
                </c:pt>
                <c:pt idx="3">
                  <c:v>Zero Waste
Sites</c:v>
                </c:pt>
                <c:pt idx="4">
                  <c:v>Water Reduction
%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</c:v>
                </c:pt>
                <c:pt idx="1">
                  <c:v>54</c:v>
                </c:pt>
                <c:pt idx="2">
                  <c:v>55</c:v>
                </c:pt>
                <c:pt idx="3">
                  <c:v>15</c:v>
                </c:pt>
                <c:pt idx="4">
                  <c:v>20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 Market Share</c:v>
                </c:pt>
              </c:strCache>
            </c:strRef>
          </c:tx>
          <c:dPt>
            <c:idx val="0"/>
            <c:spPr>
              <a:solidFill>
                <a:srgbClr val="5B2C06"/>
              </a:solidFill>
            </c:spPr>
          </c:dPt>
          <c:dPt>
            <c:idx val="1"/>
            <c:spPr>
              <a:solidFill>
                <a:srgbClr val="C8102E"/>
              </a:solidFill>
            </c:spPr>
          </c:dPt>
          <c:dPt>
            <c:idx val="2"/>
            <c:spPr>
              <a:solidFill>
                <a:srgbClr val="0078D4"/>
              </a:solidFill>
            </c:spPr>
          </c:dPt>
          <c:dPt>
            <c:idx val="3"/>
            <c:spPr>
              <a:solidFill>
                <a:srgbClr val="FFB900"/>
              </a:solidFill>
            </c:spPr>
          </c:dPt>
          <c:dPt>
            <c:idx val="4"/>
            <c:spPr>
              <a:solidFill>
                <a:srgbClr val="666666"/>
              </a:solidFill>
            </c:spPr>
          </c:dPt>
          <c:dLbls>
            <c:numFmt formatCode="0.0&quot;%&quot;" sourceLinked="0"/>
            <c:txPr>
              <a:bodyPr/>
              <a:lstStyle/>
              <a:p>
                <a:pPr>
                  <a:defRPr sz="1100" b="1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Hershey's (33.7%)</c:v>
                </c:pt>
                <c:pt idx="1">
                  <c:v>Mars (29.4%)</c:v>
                </c:pt>
                <c:pt idx="2">
                  <c:v>Mondelez (10.2%)</c:v>
                </c:pt>
                <c:pt idx="3">
                  <c:v>Ferrero (8.1%)</c:v>
                </c:pt>
                <c:pt idx="4">
                  <c:v>Others (18.6%)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33.7</c:v>
                </c:pt>
                <c:pt idx="1">
                  <c:v>29.4</c:v>
                </c:pt>
                <c:pt idx="2">
                  <c:v>10.2</c:v>
                </c:pt>
                <c:pt idx="3">
                  <c:v>8.1</c:v>
                </c:pt>
                <c:pt idx="4">
                  <c:v>18.6</c:v>
                </c:pt>
              </c:numCache>
            </c:numRef>
          </c:val>
        </c:ser>
      </c:pieChart>
    </c:plotArea>
    <c:legend>
      <c:legendPos val="b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Hershey Revenue Growth %</c:v>
                </c:pt>
              </c:strCache>
            </c:strRef>
          </c:tx>
          <c:spPr>
            <a:ln w="38100">
              <a:solidFill>
                <a:srgbClr val="5B2C06"/>
              </a:solidFill>
            </a:ln>
          </c:spPr>
          <c:dLbls>
            <c:numFmt formatCode="0.0&quot;%&quot;" sourceLinked="0"/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  <c:pt idx="6">
                  <c:v>2026E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2.0</c:v>
                </c:pt>
                <c:pt idx="1">
                  <c:v>10.1</c:v>
                </c:pt>
                <c:pt idx="2">
                  <c:v>16.2</c:v>
                </c:pt>
                <c:pt idx="3">
                  <c:v>7.1</c:v>
                </c:pt>
                <c:pt idx="4">
                  <c:v>-6.8</c:v>
                </c:pt>
                <c:pt idx="5">
                  <c:v>3.0</c:v>
                </c:pt>
                <c:pt idx="6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Mars Revenue Growth % (est.)</c:v>
                </c:pt>
              </c:strCache>
            </c:strRef>
          </c:tx>
          <c:spPr>
            <a:ln w="38100">
              <a:solidFill>
                <a:srgbClr val="C8102E"/>
              </a:solidFill>
            </a:ln>
          </c:spPr>
          <c:dLbls>
            <c:numFmt formatCode="0.0&quot;%&quot;" sourceLinked="0"/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  <c:pt idx="6">
                  <c:v>2026E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5.0</c:v>
                </c:pt>
                <c:pt idx="1">
                  <c:v>7.1</c:v>
                </c:pt>
                <c:pt idx="2">
                  <c:v>4.4</c:v>
                </c:pt>
                <c:pt idx="3">
                  <c:v>4.3</c:v>
                </c:pt>
                <c:pt idx="4">
                  <c:v>2.0</c:v>
                </c:pt>
                <c:pt idx="5">
                  <c:v>8.0</c:v>
                </c:pt>
                <c:pt idx="6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Hershey Revenue ($B)</c:v>
                </c:pt>
              </c:strCache>
            </c:strRef>
          </c:tx>
          <c:spPr>
            <a:ln w="31750">
              <a:solidFill>
                <a:srgbClr val="5B2C06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1B</c:v>
                </c:pt>
                <c:pt idx="2">
                  <c:v>2B</c:v>
                </c:pt>
                <c:pt idx="3">
                  <c:v>2.5B
(HSY BE)</c:v>
                </c:pt>
                <c:pt idx="4">
                  <c:v>3B</c:v>
                </c:pt>
                <c:pt idx="5">
                  <c:v>5B</c:v>
                </c:pt>
                <c:pt idx="6">
                  <c:v>8B</c:v>
                </c:pt>
                <c:pt idx="7">
                  <c:v>11.8B
(Mars BE)</c:v>
                </c:pt>
                <c:pt idx="8">
                  <c:v>15B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1.89</c:v>
                </c:pt>
                <c:pt idx="2">
                  <c:v>3.78</c:v>
                </c:pt>
                <c:pt idx="3">
                  <c:v>4.73</c:v>
                </c:pt>
                <c:pt idx="4">
                  <c:v>5.67</c:v>
                </c:pt>
                <c:pt idx="5">
                  <c:v>9.45</c:v>
                </c:pt>
                <c:pt idx="6">
                  <c:v>15.12</c:v>
                </c:pt>
                <c:pt idx="7">
                  <c:v>22.3</c:v>
                </c:pt>
                <c:pt idx="8">
                  <c:v>28.35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Hershey Total Cost ($B)</c:v>
                </c:pt>
              </c:strCache>
            </c:strRef>
          </c:tx>
          <c:spPr>
            <a:ln w="31750">
              <a:solidFill>
                <a:srgbClr val="A07040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1B</c:v>
                </c:pt>
                <c:pt idx="2">
                  <c:v>2B</c:v>
                </c:pt>
                <c:pt idx="3">
                  <c:v>2.5B
(HSY BE)</c:v>
                </c:pt>
                <c:pt idx="4">
                  <c:v>3B</c:v>
                </c:pt>
                <c:pt idx="5">
                  <c:v>5B</c:v>
                </c:pt>
                <c:pt idx="6">
                  <c:v>8B</c:v>
                </c:pt>
                <c:pt idx="7">
                  <c:v>11.8B
(Mars BE)</c:v>
                </c:pt>
                <c:pt idx="8">
                  <c:v>15B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2.1</c:v>
                </c:pt>
                <c:pt idx="1">
                  <c:v>2.82</c:v>
                </c:pt>
                <c:pt idx="2">
                  <c:v>3.54</c:v>
                </c:pt>
                <c:pt idx="3">
                  <c:v>3.9</c:v>
                </c:pt>
                <c:pt idx="4">
                  <c:v>4.26</c:v>
                </c:pt>
                <c:pt idx="5">
                  <c:v>5.7</c:v>
                </c:pt>
                <c:pt idx="6">
                  <c:v>7.86</c:v>
                </c:pt>
                <c:pt idx="7">
                  <c:v>10.56</c:v>
                </c:pt>
                <c:pt idx="8">
                  <c:v>12.9</c:v>
                </c:pt>
              </c:numCache>
            </c:numRef>
          </c:val>
          <c:smooth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Mars Revenue ($B)</c:v>
                </c:pt>
              </c:strCache>
            </c:strRef>
          </c:tx>
          <c:spPr>
            <a:ln w="31750">
              <a:solidFill>
                <a:srgbClr val="C8102E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1B</c:v>
                </c:pt>
                <c:pt idx="2">
                  <c:v>2B</c:v>
                </c:pt>
                <c:pt idx="3">
                  <c:v>2.5B
(HSY BE)</c:v>
                </c:pt>
                <c:pt idx="4">
                  <c:v>3B</c:v>
                </c:pt>
                <c:pt idx="5">
                  <c:v>5B</c:v>
                </c:pt>
                <c:pt idx="6">
                  <c:v>8B</c:v>
                </c:pt>
                <c:pt idx="7">
                  <c:v>11.8B
(Mars BE)</c:v>
                </c:pt>
                <c:pt idx="8">
                  <c:v>15B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1.79</c:v>
                </c:pt>
                <c:pt idx="2">
                  <c:v>3.58</c:v>
                </c:pt>
                <c:pt idx="3">
                  <c:v>4.48</c:v>
                </c:pt>
                <c:pt idx="4">
                  <c:v>5.37</c:v>
                </c:pt>
                <c:pt idx="5">
                  <c:v>8.95</c:v>
                </c:pt>
                <c:pt idx="6">
                  <c:v>14.32</c:v>
                </c:pt>
                <c:pt idx="7">
                  <c:v>21.12</c:v>
                </c:pt>
                <c:pt idx="8">
                  <c:v>26.85</c:v>
                </c:pt>
              </c:numCache>
            </c:numRef>
          </c:val>
          <c:smooth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Mars Total Cost ($B)</c:v>
                </c:pt>
              </c:strCache>
            </c:strRef>
          </c:tx>
          <c:spPr>
            <a:ln w="31750">
              <a:solidFill>
                <a:srgbClr val="E06060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1B</c:v>
                </c:pt>
                <c:pt idx="2">
                  <c:v>2B</c:v>
                </c:pt>
                <c:pt idx="3">
                  <c:v>2.5B
(HSY BE)</c:v>
                </c:pt>
                <c:pt idx="4">
                  <c:v>3B</c:v>
                </c:pt>
                <c:pt idx="5">
                  <c:v>5B</c:v>
                </c:pt>
                <c:pt idx="6">
                  <c:v>8B</c:v>
                </c:pt>
                <c:pt idx="7">
                  <c:v>11.8B
(Mars BE)</c:v>
                </c:pt>
                <c:pt idx="8">
                  <c:v>15B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8.5</c:v>
                </c:pt>
                <c:pt idx="1">
                  <c:v>9.28</c:v>
                </c:pt>
                <c:pt idx="2">
                  <c:v>10.06</c:v>
                </c:pt>
                <c:pt idx="3">
                  <c:v>10.45</c:v>
                </c:pt>
                <c:pt idx="4">
                  <c:v>10.84</c:v>
                </c:pt>
                <c:pt idx="5">
                  <c:v>12.4</c:v>
                </c:pt>
                <c:pt idx="6">
                  <c:v>14.74</c:v>
                </c:pt>
                <c:pt idx="7">
                  <c:v>17.5</c:v>
                </c:pt>
                <c:pt idx="8">
                  <c:v>20.2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Hershey's</c:v>
                </c:pt>
              </c:strCache>
            </c:strRef>
          </c:tx>
          <c:spPr>
            <a:solidFill>
              <a:srgbClr val="5B2C06">
                <a:lumMod val="60000"/>
                <a:lumOff val="40000"/>
              </a:srgbClr>
            </a:solidFill>
          </c:spPr>
          <c:cat>
            <c:strRef>
              <c:f>Sheet1!$A$2:$A$7</c:f>
              <c:strCache>
                <c:ptCount val="6"/>
                <c:pt idx="0">
                  <c:v>Legal</c:v>
                </c:pt>
                <c:pt idx="1">
                  <c:v>Technical</c:v>
                </c:pt>
                <c:pt idx="2">
                  <c:v>Financial</c:v>
                </c:pt>
                <c:pt idx="3">
                  <c:v>Social</c:v>
                </c:pt>
                <c:pt idx="4">
                  <c:v>Environmental</c:v>
                </c:pt>
                <c:pt idx="5">
                  <c:v>Market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6</c:v>
                </c:pt>
                <c:pt idx="2">
                  <c:v>8</c:v>
                </c:pt>
                <c:pt idx="3">
                  <c:v>8</c:v>
                </c:pt>
                <c:pt idx="4">
                  <c:v>7</c:v>
                </c:pt>
                <c:pt idx="5">
                  <c:v>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Mars</c:v>
                </c:pt>
              </c:strCache>
            </c:strRef>
          </c:tx>
          <c:spPr>
            <a:solidFill>
              <a:srgbClr val="C8102E">
                <a:lumMod val="60000"/>
                <a:lumOff val="40000"/>
              </a:srgbClr>
            </a:solidFill>
          </c:spPr>
          <c:cat>
            <c:strRef>
              <c:f>Sheet1!$A$2:$A$7</c:f>
              <c:strCache>
                <c:ptCount val="6"/>
                <c:pt idx="0">
                  <c:v>Legal</c:v>
                </c:pt>
                <c:pt idx="1">
                  <c:v>Technical</c:v>
                </c:pt>
                <c:pt idx="2">
                  <c:v>Financial</c:v>
                </c:pt>
                <c:pt idx="3">
                  <c:v>Social</c:v>
                </c:pt>
                <c:pt idx="4">
                  <c:v>Environmental</c:v>
                </c:pt>
                <c:pt idx="5">
                  <c:v>Market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</c:v>
                </c:pt>
                <c:pt idx="1">
                  <c:v>9</c:v>
                </c:pt>
                <c:pt idx="2">
                  <c:v>7</c:v>
                </c:pt>
                <c:pt idx="3">
                  <c:v>8</c:v>
                </c:pt>
                <c:pt idx="4">
                  <c:v>8</c:v>
                </c:pt>
                <c:pt idx="5">
                  <c:v>9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371600"/>
            <a:ext cx="5303520" cy="4114800"/>
          </a:xfrm>
          <a:prstGeom prst="roundRect">
            <a:avLst/>
          </a:prstGeom>
          <a:solidFill>
            <a:srgbClr val="5B2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 Black"/>
              </a:defRPr>
            </a:pPr>
            <a:r>
              <a:t>HERSHEY'S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B900"/>
                </a:solidFill>
                <a:latin typeface="Segoe UI"/>
              </a:defRPr>
            </a:pPr>
            <a:r>
              <a:t>Est. 1894 | Pennsylvania, USA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Revenue: $10.4B (2024)</a:t>
            </a:r>
            <a:br/>
            <a:r>
              <a:t>Brands: Reese's, Kit Kat, Twizzlers</a:t>
            </a:r>
            <a:br/>
            <a:r>
              <a:t>Market: Primarily North America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274320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B900"/>
                </a:solidFill>
                <a:latin typeface="Segoe UI Black"/>
              </a:defRPr>
            </a:pPr>
            <a:r>
              <a:t>VS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411480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8288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 Black"/>
              </a:defRPr>
            </a:pPr>
            <a:r>
              <a:t>MARS INC.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926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B900"/>
                </a:solidFill>
                <a:latin typeface="Segoe UI"/>
              </a:defRPr>
            </a:pPr>
            <a:r>
              <a:t>Est. 1911 | McLean, Virginia, USA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4747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Segoe UI"/>
              </a:defRPr>
            </a:pPr>
            <a:r>
              <a:t>Revenue: $50B+ (2024)</a:t>
            </a:r>
            <a:br/>
            <a:r>
              <a:t>Brands: M&amp;M's, Snickers, Pedigree</a:t>
            </a:r>
            <a:br/>
            <a:r>
              <a:t>Market: Global (80+ countries)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B900"/>
                </a:solidFill>
                <a:latin typeface="Segoe UI Semibold"/>
              </a:defRPr>
            </a:pPr>
            <a:r>
              <a:t>CASE STUDY: FEASIBILITY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852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Segoe UI"/>
              </a:defRPr>
            </a:pPr>
            <a:r>
              <a:t>A Comprehensive Feasibility Comparison  |  Legal • Technical • Financial • Social • Environmental • Market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Segoe UI Semibold"/>
              </a:defRPr>
            </a:pPr>
            <a:r>
              <a:t>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10058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1554480"/>
            <a:ext cx="594360" cy="594360"/>
          </a:xfrm>
          <a:prstGeom prst="ellipse">
            <a:avLst/>
          </a:prstGeom>
          <a:solidFill>
            <a:srgbClr val="5B2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508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Segoe UI"/>
              </a:defRPr>
            </a:pPr>
            <a:r>
              <a:t>Company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74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History, scale, and global footprint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303520" cy="10058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37960" y="1554480"/>
            <a:ext cx="594360" cy="59436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4592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508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Segoe UI"/>
              </a:defRPr>
            </a:pPr>
            <a:r>
              <a:t>Legal Feasibility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874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IP, trade secrets, regulatory compliance, litigation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06040"/>
            <a:ext cx="5303520" cy="10058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2788920"/>
            <a:ext cx="594360" cy="59436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8036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Segoe UI"/>
              </a:defRPr>
            </a:pPr>
            <a:r>
              <a:t>Technical Feasibility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108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Manufacturing, R&amp;D, supply chain technology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606040"/>
            <a:ext cx="5303520" cy="10058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37960" y="2788920"/>
            <a:ext cx="594360" cy="5943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88036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Segoe UI"/>
              </a:defRPr>
            </a:pPr>
            <a:r>
              <a:t>Financial Feasibility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108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Revenue, margins, investment capacity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840480"/>
            <a:ext cx="5303520" cy="10058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8680" y="4023360"/>
            <a:ext cx="594360" cy="59436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11480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3977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Segoe UI"/>
              </a:defRPr>
            </a:pPr>
            <a:r>
              <a:t>Social Feasibility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343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Labor practices, community impact, brand trust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840480"/>
            <a:ext cx="5303520" cy="10058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37960" y="4023360"/>
            <a:ext cx="594360" cy="5943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11480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977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Segoe UI"/>
              </a:defRPr>
            </a:pPr>
            <a:r>
              <a:t>Environmental Feasibility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4343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Sustainability, sourcing, carbon goals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074920"/>
            <a:ext cx="5303520" cy="10058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8680" y="5257800"/>
            <a:ext cx="594360" cy="594360"/>
          </a:xfrm>
          <a:prstGeom prst="ellipse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34924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5212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Segoe UI"/>
              </a:defRPr>
            </a:pPr>
            <a:r>
              <a:t>Market Feasibility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5577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Market share, growth, competitive landscape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5074920"/>
            <a:ext cx="5303520" cy="10058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537960" y="5257800"/>
            <a:ext cx="594360" cy="594360"/>
          </a:xfrm>
          <a:prstGeom prst="ellipse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534924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52120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Segoe UI"/>
              </a:defRPr>
            </a:pPr>
            <a:r>
              <a:t>Break-Even Analysis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5577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Cost structure, unit economics, profitability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Segoe UI Semibold"/>
              </a:defRPr>
            </a:pPr>
            <a:r>
              <a:t>COMPANY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2C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solidFill>
            <a:srgbClr val="5B2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THE HERSHEY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Founded: 1894 by Milton S. Hershey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HQ: Hershey, Pennsylvania, USA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Revenue (2024): $10.4 Billion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Employees: ~19,000 globally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Products: Chocolate, snacks, mints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Key Brands: Reese's, Kit Kat (US license),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  Hershey's Kisses, Twizzlers, Jolly Rancher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Market Focus: ~90% North America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Publicly Traded: NYSE (HSY)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Net Income: ~$1.8B (17% margin)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4864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00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143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MARS, INCORPORATED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Founded: 1911 by Frank C. Mars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HQ: McLean, Virginia, USA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Revenue (2024): $50 Billion+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Employees: ~150,000 globally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Segments: Confectionery, Pet Care,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  Food Products, Veterinary Health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Key Brands: M&amp;M's, Snickers, Twix,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  Pedigree, Whiskas, Royal Canin, Ben's Original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Market: 80+ countries worldwide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• Privately Held (Mars Family — $160B net worth)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REVENUE COMPARISON (2019–2024)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09728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046720" y="118872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0" y="1188720"/>
            <a:ext cx="1920240" cy="50800"/>
          </a:xfrm>
          <a:prstGeom prst="rect">
            <a:avLst/>
          </a:prstGeom>
          <a:solidFill>
            <a:srgbClr val="5B2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83880" y="1325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$10.4B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80" y="1691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Hershey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18872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0" y="1188720"/>
            <a:ext cx="1920240" cy="508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95560" y="1325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$50B+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5560" y="1691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Mars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37744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2377440"/>
            <a:ext cx="1920240" cy="50800"/>
          </a:xfrm>
          <a:prstGeom prst="rect">
            <a:avLst/>
          </a:prstGeom>
          <a:solidFill>
            <a:srgbClr val="5B2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2514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~19,000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880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Hershey Employees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237744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0" y="2377440"/>
            <a:ext cx="1920240" cy="508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95560" y="2514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~150,000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2880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Mars Employees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56616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3566160"/>
            <a:ext cx="1920240" cy="508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3703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~5x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4069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Revenue Gap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3566160"/>
            <a:ext cx="1920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0" y="3566160"/>
            <a:ext cx="1920240" cy="5080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5560" y="37033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4 Major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4069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Mars Segments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75488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Segoe UI"/>
              </a:defRPr>
            </a:pPr>
            <a:r>
              <a:t>Key Insight: Mars generates ~5x Hershey's revenue due to diversification across pet care, food, and vet health segments — not just confectionery.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 Semibold"/>
              </a:defRPr>
            </a:pPr>
            <a:r>
              <a:t>LEGAL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B900"/>
                </a:solidFill>
                <a:latin typeface="Segoe UI"/>
              </a:defRPr>
            </a:pPr>
            <a:r>
              <a:t>Intellectual Property • Regulatory • Litigation • Trade Secrets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3810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LEGAL FEASIBILITY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2C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2C06"/>
                </a:solidFill>
                <a:latin typeface="Segoe UI"/>
              </a:defRPr>
            </a:pPr>
            <a:r>
              <a:t>HERSHEY'S — Legal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Trademark Portfolio: 2,000+ registered globally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Kit Kat: Licensed from Nestlé for US market only;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renegotiation risk if Nestlé terms change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Trade Dress: Successfully defended Reese's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orange packaging in court (2019)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FDA Compliance: Full compliance with US food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safety (FSMA, HACCP certified)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Litigation: Settled child labor lawsuits related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to West African cocoa sourcing ($10M+)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GDPR/CCPA: Consumer data programs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compliant with privacy regulations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Risk: Heavy US focus limits international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IP protection coverage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4864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02E"/>
                </a:solidFill>
                <a:latin typeface="Segoe UI"/>
              </a:defRPr>
            </a:pPr>
            <a:r>
              <a:t>MARS — Legal Landscape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Trademark Portfolio: 5,000+ across 80+ countries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Private Company: No SEC disclosure obligations;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greater legal flexibility and secrecy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M&amp;M's IP: Distinctive character trademarks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protected globally (recent gender-neutral rebrand)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Pet Food Regulation: Compliant with FDA-CVM,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AAFCO standards across all markets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Antitrust: EU scrutiny on Wrigley acquisition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($23B, 2008) — approved with conditions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Trade Secrets: Proprietary recipes protected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under Uniform Trade Secrets Act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Strength: Global IP coverage provides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stronger defense against counterfeiting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LEGAL FEASIBILITY — SCORECARD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046720" y="13716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VERDICT</a:t>
            </a:r>
            <a:br/>
            <a:br/>
            <a:r>
              <a:t>Mars leads in legal feasibility due to:</a:t>
            </a:r>
            <a:br/>
            <a:br/>
            <a:r>
              <a:t>• Broader global trademark portfolio</a:t>
            </a:r>
            <a:br/>
            <a:r>
              <a:t>• Private company = no SEC burden</a:t>
            </a:r>
            <a:br/>
            <a:r>
              <a:t>• Stronger trade secret protections</a:t>
            </a:r>
            <a:br/>
            <a:r>
              <a:t>• Diversified regulatory expertise</a:t>
            </a:r>
            <a:br/>
            <a:br/>
            <a:r>
              <a:t>Hershey's risk:</a:t>
            </a:r>
            <a:br/>
            <a:r>
              <a:t>• Kit Kat license dependency</a:t>
            </a:r>
            <a:br/>
            <a:r>
              <a:t>• Limited international IP coverage</a:t>
            </a:r>
            <a:br/>
            <a:r>
              <a:t>• Exposure to cocoa labor lawsuits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 Semibold"/>
              </a:defRPr>
            </a:pPr>
            <a:r>
              <a:t>TECHNICAL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B900"/>
                </a:solidFill>
                <a:latin typeface="Segoe UI"/>
              </a:defRPr>
            </a:pPr>
            <a:r>
              <a:t>Manufacturing • R&amp;D • Supply Chain • Innovation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3810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TECHNICAL FEASIBILITY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2C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2C06"/>
                </a:solidFill>
                <a:latin typeface="Segoe UI"/>
              </a:defRPr>
            </a:pPr>
            <a:r>
              <a:t>HERSHEY'S — Technical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Manufacturing: 15+ plants across North America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Flagship: Hershey, PA plant — 70M+ Kisses/day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Automation: Invested $300M+ in smart factory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upgrades (2020–2024), AI-driven quality control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R&amp;D Spend: ~$55M/year (~0.5% of revenue)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Innovation: Launched 60+ new products (2022–24)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including plant-based and low-sugar lines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Supply Chain: SAP S/4HANA ERP implementation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Digital: Direct-to-consumer e-commerce platform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Weakness: Limited global manufacturing footprint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Cocoa Processing: Partially outsourced to Cargill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4864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02E"/>
                </a:solidFill>
                <a:latin typeface="Segoe UI"/>
              </a:defRPr>
            </a:pPr>
            <a:r>
              <a:t>MARS — Technical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Manufacturing: 130+ factories in 80+ countries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Vertical Integration: Owns cocoa farms, processes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raw materials, and manufactures end products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R&amp;D Spend: ~$800M/year (~1.6% of revenue)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Mars Advanced Research Institute (MARI):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focuses on food science, genomics, AI/ML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Pet Care Tech: DNA testing (Wisdom Panel),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veterinary diagnostics (Antech, VCA hospitals)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Supply Chain: End-to-end digital supply chain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with predictive analytics and IoT sensors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Innovation: 100+ new products annually across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confectionery, pet care, and food segments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Strength: Scale enables rapid global rollout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R&amp;D INVESTMENT &amp; MANUFACTURING SCALE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046720" y="11887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KEY TAKEAWAYS</a:t>
            </a:r>
            <a:br/>
            <a:br/>
            <a:r>
              <a:t>• Mars spends 14.5x more on R&amp;D</a:t>
            </a:r>
            <a:br/>
            <a:r>
              <a:t>• Mars has 8.7x more factories</a:t>
            </a:r>
            <a:br/>
            <a:r>
              <a:t>• Mars operates in 16x more countries</a:t>
            </a:r>
            <a:br/>
            <a:br/>
            <a:r>
              <a:t>However, Hershey's has higher</a:t>
            </a:r>
            <a:br/>
            <a:r>
              <a:t>R&amp;D efficiency per dollar in</a:t>
            </a:r>
            <a:br/>
            <a:r>
              <a:t>its core chocolate category.</a:t>
            </a:r>
            <a:br/>
            <a:br/>
            <a:r>
              <a:t>Mars’ diversification into pet care</a:t>
            </a:r>
            <a:br/>
            <a:r>
              <a:t>and vet health drives much of</a:t>
            </a:r>
            <a:br/>
            <a:r>
              <a:t>the R&amp;D spend difference.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 Semibold"/>
              </a:defRPr>
            </a:pPr>
            <a:r>
              <a:t>FINANCIAL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B900"/>
                </a:solidFill>
                <a:latin typeface="Segoe UI"/>
              </a:defRPr>
            </a:pPr>
            <a:r>
              <a:t>Revenue • Profitability • Margins • Investment Capacity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3810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FINANCIAL FEASIBILITY DEEP DIVE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50800"/>
          </a:xfrm>
          <a:prstGeom prst="rect">
            <a:avLst/>
          </a:prstGeom>
          <a:solidFill>
            <a:srgbClr val="5B2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$10.4B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HSY Revenue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097280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68880" y="1097280"/>
            <a:ext cx="1828800" cy="50800"/>
          </a:xfrm>
          <a:prstGeom prst="rect">
            <a:avLst/>
          </a:prstGeom>
          <a:solidFill>
            <a:srgbClr val="5B2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234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44.2%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6002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HSY Gross Margin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097280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097280"/>
            <a:ext cx="1828800" cy="50800"/>
          </a:xfrm>
          <a:prstGeom prst="rect">
            <a:avLst/>
          </a:prstGeom>
          <a:solidFill>
            <a:srgbClr val="5B2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234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17.3%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16002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HSY Net Margin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097280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097280"/>
            <a:ext cx="1828800" cy="508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234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$50B+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6002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Mars Revenue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1097280"/>
            <a:ext cx="18288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3920" y="1097280"/>
            <a:ext cx="1828800" cy="508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1234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~40%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16002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Mars Gross Margin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0" y="1097280"/>
            <a:ext cx="14630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515600" y="1097280"/>
            <a:ext cx="1463040" cy="508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52760" y="12344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~12%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1600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Mars Net Margin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57200" y="2377440"/>
          <a:ext cx="68580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7589520" y="2377440"/>
            <a:ext cx="4389120" cy="39319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560320"/>
            <a:ext cx="4023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FINANCIAL INSIGHTS</a:t>
            </a:r>
            <a:br/>
            <a:br/>
            <a:r>
              <a:t>• Hershey's has HIGHER margins (17% vs 12%)</a:t>
            </a:r>
            <a:br/>
            <a:r>
              <a:t>  despite being 5x smaller — focused portfolio</a:t>
            </a:r>
            <a:br/>
            <a:br/>
            <a:r>
              <a:t>• Mars invests profits back into acquisitions</a:t>
            </a:r>
            <a:br/>
            <a:r>
              <a:t>  (Kellanova $36B, 2024; VCA $9.1B, 2017)</a:t>
            </a:r>
            <a:br/>
            <a:br/>
            <a:r>
              <a:t>• Hershey's: $4.5B debt, 2.3x leverage ratio</a:t>
            </a:r>
            <a:br/>
            <a:r>
              <a:t>• Mars: Est. $15B+ debt capacity as private co</a:t>
            </a:r>
            <a:br/>
            <a:br/>
            <a:r>
              <a:t>• Hershey Dividend Yield: ~2.8% (HSY)</a:t>
            </a:r>
            <a:br/>
            <a:r>
              <a:t>• Mars: No public dividends (family-owned)</a:t>
            </a:r>
            <a:br/>
            <a:br/>
            <a:r>
              <a:t>• Hershey’s stock grew 85% (2019–24)</a:t>
            </a:r>
            <a:br/>
            <a:r>
              <a:t>  outperforming S&amp;P 500 consumer staples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 Semibold"/>
              </a:defRPr>
            </a:pPr>
            <a:r>
              <a:t>SOCIAL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B900"/>
                </a:solidFill>
                <a:latin typeface="Segoe UI"/>
              </a:defRPr>
            </a:pPr>
            <a:r>
              <a:t>Labor Practices • Community • Brand Trust • DEI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3810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SOCIAL FEASIBILITY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2C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2C06"/>
                </a:solidFill>
                <a:latin typeface="Segoe UI"/>
              </a:defRPr>
            </a:pPr>
            <a:r>
              <a:t>HERSHEY'S — Social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Milton Hershey School: Fully funds education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for 2,100+ underprivileged children ($17.6B trust)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Cocoa For Good: $500M program addressing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child labor, farmer income, nutrition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DEI: 50% diverse board; targets 42% women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in leadership by 2025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Community: Hersheypark employs 5,000+ locals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Controversy: Named in child labor lawsuits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related to Ivory Coast cocoa farms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Brand Trust: #1 most trusted chocolate brand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in North America (Morning Consult 2024)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Employee Satisfaction: 4.0/5 on Glassdoor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4864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02E"/>
                </a:solidFill>
                <a:latin typeface="Segoe UI"/>
              </a:defRPr>
            </a:pPr>
            <a:r>
              <a:t>MARS — Social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Five Principles: Quality, Responsibility,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Mutuality, Efficiency, Freedom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Sustainable in a Generation: $1B+ plan for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healthy planet, thriving people, nourishing well-being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Cocoa Sourcing: 100% responsibly sourced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cocoa target by 2025 (at 70% in 2024)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Employee Benefits: Industry-leading; equal pay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for equal work verified by third party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Controversy: M&amp;M's "spokescandies" rebrand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backlash (2023) — culture war politicization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Pet Care Impact: 2,000+ VCA animal hospitals;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community veterinary access programs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Employee Satisfaction: 4.1/5 on Glassdoor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SOCIAL IMPACT METRICS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109728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 Semibold"/>
              </a:defRPr>
            </a:pPr>
            <a:r>
              <a:t>ENVIRONMENTAL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B900"/>
                </a:solidFill>
                <a:latin typeface="Segoe UI"/>
              </a:defRPr>
            </a:pPr>
            <a:r>
              <a:t>Sustainability • Carbon Footprint • Packaging • Sourcing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3810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ENVIRONMENTAL FEASIBILITY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2C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2C06"/>
                </a:solidFill>
                <a:latin typeface="Segoe UI"/>
              </a:defRPr>
            </a:pPr>
            <a:r>
              <a:t>HERSHEY'S — Environmental Initiatives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Climate Target: 50% GHG reduction by 2030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(Scope 1 &amp; 2, from 2018 baseline)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Achieved: 20% reduction as of 2024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Renewable Energy: 50% of electricity from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renewable sources (target: 100% by 2030)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Packaging: 100% recyclable/reusable by 2030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(currently at ~60%)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Water: 15% reduction in water usage (2018–24)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Zero Waste: 7 manufacturing sites achieved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zero-waste-to-landfill status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Cocoa: GPS mapping of 100% supplier farms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to prevent deforestation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Weakness: Scope 3 emissions remain high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(cocoa supply chain accounts for ~70%)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48640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8102E"/>
                </a:solidFill>
                <a:latin typeface="Segoe UI"/>
              </a:defRPr>
            </a:pPr>
            <a:r>
              <a:t>MARS — Environmental Initiatives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Net Zero Target: Full value chain by 2050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Science-Based Targets: Approved by SBTi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(1.5°C aligned)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Renewable Energy: 54% of operations powered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by renewables (wind/solar farms globally)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Forest Positive: Committed to zero deforestation;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100% traceable palm oil achieved (2023)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Water Stewardship: AWS certification at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12 high-risk manufacturing sites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Packaging: $1B investment in sustainable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packaging innovation (2020–25)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Circular Economy: Piloting reusable packaging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in UK and Australia markets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• Strength: Scale enables industry-leading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Segoe UI"/>
              </a:defRPr>
            </a:pPr>
            <a:r>
              <a:t>  supplier sustainability programs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ENVIRONMENTAL PROGRESS TRACKER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73152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046720" y="1188720"/>
            <a:ext cx="3931920" cy="47548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ENVIRONMENTAL VERDICT</a:t>
            </a:r>
            <a:br/>
            <a:br/>
            <a:r>
              <a:t>Both companies show strong commitment,</a:t>
            </a:r>
            <a:br/>
            <a:r>
              <a:t>but Mars leads due to:</a:t>
            </a:r>
            <a:br/>
            <a:br/>
            <a:r>
              <a:t>• SBTi-approved 1.5°C targets</a:t>
            </a:r>
            <a:br/>
            <a:r>
              <a:t>• $1B packaging innovation fund</a:t>
            </a:r>
            <a:br/>
            <a:r>
              <a:t>• More zero-waste sites (15 vs 7)</a:t>
            </a:r>
            <a:br/>
            <a:r>
              <a:t>• AWS water stewardship certification</a:t>
            </a:r>
            <a:br/>
            <a:br/>
            <a:r>
              <a:t>Hershey’s edge:</a:t>
            </a:r>
            <a:br/>
            <a:r>
              <a:t>• 100% GPS-mapped cocoa farms</a:t>
            </a:r>
            <a:br/>
            <a:r>
              <a:t>• Higher transparency as public co</a:t>
            </a:r>
            <a:br/>
            <a:r>
              <a:t>• Faster % progress on GHG reduction</a:t>
            </a:r>
            <a:br/>
            <a:r>
              <a:t>  relative to company size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 Semibold"/>
              </a:defRPr>
            </a:pPr>
            <a:r>
              <a:t>MARKET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B900"/>
                </a:solidFill>
                <a:latin typeface="Segoe UI"/>
              </a:defRPr>
            </a:pPr>
            <a:r>
              <a:t>Market Share • Growth Trends • Competitive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3810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MARKET SHARE — US CONFECTIONERY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59436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675120" y="1097280"/>
            <a:ext cx="5212080" cy="50292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128016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Segoe UI"/>
              </a:defRPr>
            </a:pPr>
            <a:r>
              <a:t>MARKET CONTEXT</a:t>
            </a:r>
            <a:br/>
            <a:br/>
            <a:r>
              <a:t>US Chocolate Market: ~$26B (2024)</a:t>
            </a:r>
            <a:br/>
            <a:r>
              <a:t>Global Chocolate Market: ~$135B (2024)</a:t>
            </a:r>
            <a:br/>
            <a:r>
              <a:t>CAGR (2024-2030): 4.5%</a:t>
            </a:r>
            <a:br/>
            <a:br/>
            <a:r>
              <a:t>HERSHEY'S POSITION</a:t>
            </a:r>
            <a:br/>
            <a:r>
              <a:t>• #1 in US confectionery (33.7%)</a:t>
            </a:r>
            <a:br/>
            <a:r>
              <a:t>• Dominates US chocolate + snacking</a:t>
            </a:r>
            <a:br/>
            <a:r>
              <a:t>• Weak internationally (&lt;10% of revenue)</a:t>
            </a:r>
            <a:br/>
            <a:r>
              <a:t>• Growing in salty snacks (SkinnyPop, Pirate's Booty)</a:t>
            </a:r>
            <a:br/>
            <a:br/>
            <a:r>
              <a:t>MARS' POSITION</a:t>
            </a:r>
            <a:br/>
            <a:r>
              <a:t>• #1 globally in confectionery</a:t>
            </a:r>
            <a:br/>
            <a:r>
              <a:t>• #2 in US confectionery (29.4%)</a:t>
            </a:r>
            <a:br/>
            <a:r>
              <a:t>• Strong in 80+ international markets</a:t>
            </a:r>
            <a:br/>
            <a:r>
              <a:t>• Diversified: pet care = ~$20B alone</a:t>
            </a:r>
            <a:br/>
            <a:r>
              <a:t>• Kellanova acquisition expands snack portfolio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MARKET GROWTH TRAJECTORY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109728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 Semibold"/>
              </a:defRPr>
            </a:pPr>
            <a:r>
              <a:t>BREAK-EVEN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B900"/>
                </a:solidFill>
                <a:latin typeface="Segoe UI"/>
              </a:defRPr>
            </a:pPr>
            <a:r>
              <a:t>Cost Structure • Unit Economics • Profitability Thresholds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3810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BREAK-EVEN ANALYSIS — PER 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5B2C06"/>
                </a:solidFill>
                <a:latin typeface="Segoe UI"/>
              </a:defRPr>
            </a:pPr>
            <a:r>
              <a:t>HERSHEY'S (Standard Chocolate Bar)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965960" cy="50800"/>
          </a:xfrm>
          <a:prstGeom prst="rect">
            <a:avLst/>
          </a:prstGeom>
          <a:solidFill>
            <a:srgbClr val="5B2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$1.89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Avg Retail Price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463040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06040" y="1463040"/>
            <a:ext cx="1965960" cy="50800"/>
          </a:xfrm>
          <a:prstGeom prst="rect">
            <a:avLst/>
          </a:prstGeom>
          <a:solidFill>
            <a:srgbClr val="995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600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$1.05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9659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COGS (55.8%)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463040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1463040"/>
            <a:ext cx="1965960" cy="50800"/>
          </a:xfrm>
          <a:prstGeom prst="rect">
            <a:avLst/>
          </a:prstGeom>
          <a:solidFill>
            <a:srgbClr val="8844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600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$0.72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19659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Variable Cost/Unit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1463040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03720" y="1463040"/>
            <a:ext cx="1965960" cy="5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600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$2.1B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9659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Fixed Costs ($B/yr)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463040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1463040"/>
            <a:ext cx="196596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16002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$0.84 (44.2%)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196596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Contribution Margin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8102E"/>
                </a:solidFill>
                <a:latin typeface="Segoe UI"/>
              </a:defRPr>
            </a:pPr>
            <a:r>
              <a:t>MARS (Standard Chocolate Bar)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108960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108960"/>
            <a:ext cx="1965960" cy="508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2461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$1.79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6118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Avg Retail Price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06040" y="3108960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06040" y="3108960"/>
            <a:ext cx="1965960" cy="50800"/>
          </a:xfrm>
          <a:prstGeom prst="rect">
            <a:avLst/>
          </a:prstGeom>
          <a:solidFill>
            <a:srgbClr val="99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32461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$1.07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6118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COGS (60%)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0" y="3108960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54880" y="3108960"/>
            <a:ext cx="1965960" cy="50800"/>
          </a:xfrm>
          <a:prstGeom prst="rect">
            <a:avLst/>
          </a:prstGeom>
          <a:solidFill>
            <a:srgbClr val="88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32461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$0.78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36118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Variable Cost/Unit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03720" y="3108960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03720" y="3108960"/>
            <a:ext cx="1965960" cy="5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32461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$8.5B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6118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Fixed Costs ($B/yr)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60" y="3108960"/>
            <a:ext cx="19659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52560" y="3108960"/>
            <a:ext cx="1965960" cy="50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324612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1A2E"/>
                </a:solidFill>
                <a:latin typeface="Segoe UI"/>
              </a:defRPr>
            </a:pPr>
            <a:r>
              <a:t>$0.72 (40%)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36118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Segoe UI"/>
              </a:defRPr>
            </a:pPr>
            <a:r>
              <a:t>Contribution Margin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389120"/>
            <a:ext cx="11247120" cy="20116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BREAK-EVEN CALCULATION</a:t>
            </a:r>
            <a:br/>
            <a:br/>
            <a:r>
              <a:t>Break-Even Units = Fixed Costs / Contribution Margin per Unit</a:t>
            </a:r>
            <a:br/>
            <a:br/>
            <a:r>
              <a:t>Hershey's: $2.1B / $0.84 = 2.5 Billion units/year</a:t>
            </a:r>
            <a:br/>
            <a:r>
              <a:t>Mars (confectionery): $8.5B / $0.72 = 11.8 Billion units/year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Segoe UI"/>
              </a:defRPr>
            </a:pPr>
            <a:r>
              <a:t>KEY INSIGHT</a:t>
            </a:r>
            <a:br/>
            <a:br/>
            <a:r>
              <a:t>Hershey’s reaches break-even faster per segment</a:t>
            </a:r>
            <a:br/>
            <a:r>
              <a:t>due to lower fixed costs and higher contribution</a:t>
            </a:r>
            <a:br/>
            <a:r>
              <a:t>margin. Mars’ higher break-even is offset by</a:t>
            </a:r>
            <a:br/>
            <a:r>
              <a:t>massive volume (40B+ units sold globally/year).</a:t>
            </a:r>
            <a:br/>
            <a:r>
              <a:t>Mars compensates through scale, not efficiency.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BREAK-EVEN VISUALIZATION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109728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Segoe UI"/>
              </a:defRPr>
            </a:pPr>
            <a:r>
              <a:t>COMPREHENSIVE FEASIBILITY SCORECARD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914400"/>
          <a:ext cx="68580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589520" y="1097280"/>
            <a:ext cx="4297680" cy="50292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1280160"/>
            <a:ext cx="3931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onsolas"/>
              </a:defRPr>
            </a:pPr>
            <a:r>
              <a:t>OVERALL SCORES (out of 10)</a:t>
            </a:r>
            <a:br/>
            <a:br/>
            <a:r>
              <a:t>Category          HSY    Mars</a:t>
            </a:r>
            <a:br/>
            <a:r>
              <a:t>──────────────────────────</a:t>
            </a:r>
            <a:br/>
            <a:r>
              <a:t>Legal                7        9</a:t>
            </a:r>
            <a:br/>
            <a:r>
              <a:t>Technical           6        9</a:t>
            </a:r>
            <a:br/>
            <a:r>
              <a:t>Financial           8        7</a:t>
            </a:r>
            <a:br/>
            <a:r>
              <a:t>Social               8        8</a:t>
            </a:r>
            <a:br/>
            <a:r>
              <a:t>Environmental    7        8</a:t>
            </a:r>
            <a:br/>
            <a:r>
              <a:t>Market               7        9</a:t>
            </a:r>
            <a:br/>
            <a:r>
              <a:t>──────────────────────────</a:t>
            </a:r>
            <a:br/>
            <a:r>
              <a:t>AVERAGE          7.2     8.3</a:t>
            </a:r>
            <a:br/>
            <a:br/>
            <a:r>
              <a:t>Mars leads overall due to</a:t>
            </a:r>
            <a:br/>
            <a:r>
              <a:t>diversification and global scale.</a:t>
            </a:r>
            <a:br/>
            <a:br/>
            <a:r>
              <a:t>Hershey’s excels in financial</a:t>
            </a:r>
            <a:br/>
            <a:r>
              <a:t>efficiency and North American</a:t>
            </a:r>
            <a:br/>
            <a:r>
              <a:t>market dominance.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188720"/>
            <a:ext cx="2103120" cy="3810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332720" cy="10515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1691640"/>
            <a:ext cx="640080" cy="64008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556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45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Mars Wins on Scale &amp; Diversification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0574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50B+ revenue across 4 segments; global presence in 80+ countries gives Mars unmatched resilience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88920"/>
            <a:ext cx="10332720" cy="10515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8720" y="2926080"/>
            <a:ext cx="640080" cy="640080"/>
          </a:xfrm>
          <a:prstGeom prst="ellipse">
            <a:avLst/>
          </a:prstGeom>
          <a:solidFill>
            <a:srgbClr val="5B2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99008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8803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Hershey Wins on Profitability &amp;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17% net margin vs Mars' 12%; focused portfolio drives higher returns per dollar invested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023360"/>
            <a:ext cx="10332720" cy="10515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88720" y="4160520"/>
            <a:ext cx="640080" cy="640080"/>
          </a:xfrm>
          <a:prstGeom prst="ellipse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2245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1148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Both Face Cocoa Supply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5262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Climate change threatens West African cocoa yields; both investing heavily in sustainable sourcing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257800"/>
            <a:ext cx="10332720" cy="10515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88720" y="5394960"/>
            <a:ext cx="640080" cy="64008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545896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53492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Market Is Shifting to Health &amp; Premium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760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Segoe UI"/>
              </a:defRPr>
            </a:pPr>
            <a:r>
              <a:t>Consumer demand for low-sugar, organic, and premium chocolate is growing at 8% CAGR vs 4.5% overall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 Black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474720"/>
            <a:ext cx="3017520" cy="38100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B900"/>
                </a:solidFill>
                <a:latin typeface="Segoe UI"/>
              </a:defRPr>
            </a:pPr>
            <a:r>
              <a:t>Hershey's vs Mars  |  Comprehensive Feasibility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7548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Segoe U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